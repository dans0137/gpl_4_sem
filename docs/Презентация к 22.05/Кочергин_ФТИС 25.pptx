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73" r:id="rId2"/>
    <p:sldId id="275" r:id="rId3"/>
    <p:sldId id="278" r:id="rId4"/>
    <p:sldId id="284" r:id="rId5"/>
    <p:sldId id="280" r:id="rId6"/>
    <p:sldId id="285" r:id="rId7"/>
    <p:sldId id="276" r:id="rId8"/>
    <p:sldId id="281" r:id="rId9"/>
    <p:sldId id="277" r:id="rId10"/>
    <p:sldId id="282" r:id="rId11"/>
    <p:sldId id="283" r:id="rId12"/>
    <p:sldId id="279" r:id="rId13"/>
    <p:sldId id="268" r:id="rId14"/>
  </p:sldIdLst>
  <p:sldSz cx="12192000" cy="6858000"/>
  <p:notesSz cx="6799263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33" autoAdjust="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9" d="100"/>
          <a:sy n="79" d="100"/>
        </p:scale>
        <p:origin x="286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51348" y="4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r">
              <a:defRPr sz="1200"/>
            </a:lvl1pPr>
          </a:lstStyle>
          <a:p>
            <a:fld id="{FB926DD5-54FA-4999-AB53-56235AD7C30B}" type="datetimeFigureOut">
              <a:rPr lang="ru-RU" smtClean="0"/>
              <a:pPr/>
              <a:t>13.02.2025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2" y="9431605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51348" y="9431605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r">
              <a:defRPr sz="1200"/>
            </a:lvl1pPr>
          </a:lstStyle>
          <a:p>
            <a:fld id="{5EA7CE1C-D62D-4C42-8E02-158CB14943E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338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1348" y="4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r">
              <a:defRPr sz="1200"/>
            </a:lvl1pPr>
          </a:lstStyle>
          <a:p>
            <a:fld id="{9DEDBC42-77D1-4152-90CD-1289CF4053B4}" type="datetimeFigureOut">
              <a:rPr lang="ru-RU" smtClean="0"/>
              <a:pPr/>
              <a:t>13.02.2025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3863" y="1243013"/>
            <a:ext cx="5951537" cy="3348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58" tIns="45729" rIns="91458" bIns="45729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927" y="4778723"/>
            <a:ext cx="5439410" cy="3909864"/>
          </a:xfrm>
          <a:prstGeom prst="rect">
            <a:avLst/>
          </a:prstGeom>
        </p:spPr>
        <p:txBody>
          <a:bodyPr vert="horz" lIns="91458" tIns="45729" rIns="91458" bIns="45729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2" y="9431605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1348" y="9431605"/>
            <a:ext cx="2946347" cy="498214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r">
              <a:defRPr sz="1200"/>
            </a:lvl1pPr>
          </a:lstStyle>
          <a:p>
            <a:fld id="{84383FFD-FB3D-4428-A564-8A5E9B820F9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582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83FFD-FB3D-4428-A564-8A5E9B820F98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496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ctr">
              <a:defRPr lang="ru-RU">
                <a:solidFill>
                  <a:schemeClr val="tx1"/>
                </a:solidFill>
              </a:defRPr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81733" y="6349999"/>
            <a:ext cx="1701800" cy="499533"/>
          </a:xfrm>
        </p:spPr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543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" y="6501947"/>
            <a:ext cx="1190172" cy="365125"/>
          </a:xfrm>
        </p:spPr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53456" y="6501946"/>
            <a:ext cx="8588829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73267" y="6358465"/>
            <a:ext cx="1718733" cy="474738"/>
          </a:xfrm>
        </p:spPr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33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5"/>
            <a:ext cx="10515600" cy="73553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6600"/>
            <a:ext cx="10515600" cy="54403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" y="6501947"/>
            <a:ext cx="1190172" cy="365125"/>
          </a:xfrm>
        </p:spPr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09057" y="6501946"/>
            <a:ext cx="8588829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39398" y="6324599"/>
            <a:ext cx="1788887" cy="517071"/>
          </a:xfrm>
        </p:spPr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6233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5563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49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19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670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783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946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560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748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IV Научно-практическая конференция «Физико-технические интеллектуальные системы»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142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xmlns="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xmlns="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39465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  <p:sp>
        <p:nvSpPr>
          <p:cNvPr id="10" name="Текст 11">
            <a:extLst>
              <a:ext uri="{FF2B5EF4-FFF2-40B4-BE49-F238E27FC236}">
                <a16:creationId xmlns:a16="http://schemas.microsoft.com/office/drawing/2014/main" xmlns="" id="{8E4B5BDC-B674-4D6C-BB4A-C5841B4B4B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37239" y="4248088"/>
            <a:ext cx="5916561" cy="14546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algn="r"/>
            <a:r>
              <a:rPr lang="ru-RU" dirty="0"/>
              <a:t>автор</a:t>
            </a:r>
          </a:p>
        </p:txBody>
      </p:sp>
    </p:spTree>
    <p:extLst>
      <p:ext uri="{BB962C8B-B14F-4D97-AF65-F5344CB8AC3E}">
        <p14:creationId xmlns:p14="http://schemas.microsoft.com/office/powerpoint/2010/main" val="3555873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665" y="6471397"/>
            <a:ext cx="11901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/>
              <a:t>11.02.2025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45733" y="6471396"/>
            <a:ext cx="853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ru-RU"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598" y="6415059"/>
            <a:ext cx="17224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28E9ACD2-92B0-4F6E-9302-7D5DE7C208A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9488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3" r:id="rId13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kern="1200" dirty="0" smtClean="0">
          <a:solidFill>
            <a:srgbClr val="3C388D"/>
          </a:solidFill>
          <a:latin typeface="Verdana" panose="020B0604030504040204" pitchFamily="34" charset="0"/>
          <a:ea typeface="Verdana" panose="020B0604030504040204" pitchFamily="34" charset="0"/>
          <a:cs typeface="Times New Roman" panose="02020603050405020304" pitchFamily="18" charset="0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Times New Roman" panose="02020603050405020304" pitchFamily="18" charset="0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Times New Roman" panose="02020603050405020304" pitchFamily="18" charset="0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Times New Roman" panose="02020603050405020304" pitchFamily="18" charset="0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Times New Roman" panose="02020603050405020304" pitchFamily="18" charset="0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maksim.i.kochergin@tusur.r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Декомпозиция алгоритма интеллектуального управления техническим объектом на слои в многоуровневой компьютерной модели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Кочергин Максим Игоревич, </a:t>
            </a:r>
          </a:p>
          <a:p>
            <a:r>
              <a:rPr lang="ru-RU" dirty="0"/>
              <a:t>доцент каф. КСУП, к.т.н.</a:t>
            </a:r>
          </a:p>
          <a:p>
            <a:r>
              <a:rPr lang="ru-RU" dirty="0"/>
              <a:t>maksim.i.kochergin@tusur.ru,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644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доклада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Представление и обсуждение предлагаемого подхода: декомпозиции логического уровня многоуровневой компьютерной модели на слои для выделения изолированных функциональных алгоритмических компонентных цепей:</a:t>
            </a:r>
          </a:p>
          <a:p>
            <a:pPr lvl="1"/>
            <a:r>
              <a:rPr lang="ru-RU" dirty="0"/>
              <a:t>для расчёта отклика модели в разных режимах работы, </a:t>
            </a:r>
          </a:p>
          <a:p>
            <a:pPr lvl="1"/>
            <a:r>
              <a:rPr lang="ru-RU" dirty="0"/>
              <a:t>обучения </a:t>
            </a:r>
            <a:r>
              <a:rPr lang="ru-RU" dirty="0" smtClean="0"/>
              <a:t>и настройки алгоритмов управления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обработки данных и прогнозирования, </a:t>
            </a:r>
          </a:p>
          <a:p>
            <a:pPr lvl="1"/>
            <a:r>
              <a:rPr lang="ru-RU" dirty="0"/>
              <a:t>создания иерархических систем управления.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0086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 многоуровневых компонентных цепей 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средства визуализации</a:t>
            </a:r>
          </a:p>
          <a:p>
            <a:endParaRPr lang="ru-RU" dirty="0"/>
          </a:p>
          <a:p>
            <a:r>
              <a:rPr lang="ru-RU" dirty="0"/>
              <a:t>средства имитационного моделирования</a:t>
            </a:r>
          </a:p>
          <a:p>
            <a:endParaRPr lang="ru-RU" dirty="0"/>
          </a:p>
          <a:p>
            <a:r>
              <a:rPr lang="ru-RU" dirty="0"/>
              <a:t>средства математического (аналитического) моделирования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3</a:t>
            </a:fld>
            <a:endParaRPr lang="ru-RU"/>
          </a:p>
        </p:txBody>
      </p:sp>
      <p:graphicFrame>
        <p:nvGraphicFramePr>
          <p:cNvPr id="8" name="Объект 7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3555836"/>
              </p:ext>
            </p:extLst>
          </p:nvPr>
        </p:nvGraphicFramePr>
        <p:xfrm>
          <a:off x="596370" y="1978556"/>
          <a:ext cx="5257811" cy="30167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Visio" r:id="rId3" imgW="2905241" imgH="1666782" progId="Visio.Drawing.15">
                  <p:embed/>
                </p:oleObj>
              </mc:Choice>
              <mc:Fallback>
                <p:oleObj name="Visio" r:id="rId3" imgW="2905241" imgH="1666782" progId="Visio.Drawing.1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70" y="1978556"/>
                        <a:ext cx="5257811" cy="30167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Дата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1301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85735"/>
            <a:ext cx="10515600" cy="735535"/>
          </a:xfrm>
        </p:spPr>
        <p:txBody>
          <a:bodyPr/>
          <a:lstStyle/>
          <a:p>
            <a:r>
              <a:rPr lang="ru-RU" dirty="0" smtClean="0"/>
              <a:t>Сравнение подходов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09133"/>
            <a:ext cx="10515600" cy="5067830"/>
          </a:xfrm>
        </p:spPr>
        <p:txBody>
          <a:bodyPr/>
          <a:lstStyle/>
          <a:p>
            <a:r>
              <a:rPr lang="en-US" dirty="0" err="1" smtClean="0"/>
              <a:t>Simintech</a:t>
            </a:r>
            <a:r>
              <a:rPr lang="en-US" dirty="0" smtClean="0"/>
              <a:t>, Simulink (</a:t>
            </a:r>
            <a:r>
              <a:rPr lang="en-US" dirty="0" err="1" smtClean="0"/>
              <a:t>Matlab</a:t>
            </a:r>
            <a:r>
              <a:rPr lang="en-US" dirty="0" smtClean="0"/>
              <a:t>):</a:t>
            </a:r>
          </a:p>
          <a:p>
            <a:pPr lvl="1"/>
            <a:r>
              <a:rPr lang="ru-RU" dirty="0" smtClean="0"/>
              <a:t>Модель объекта и системы управления – на одном уровне</a:t>
            </a:r>
          </a:p>
          <a:p>
            <a:pPr lvl="1"/>
            <a:r>
              <a:rPr lang="ru-RU" dirty="0" smtClean="0"/>
              <a:t>Декомпозиция с использованием «подсистем» (</a:t>
            </a:r>
            <a:r>
              <a:rPr lang="en-US" dirty="0" smtClean="0"/>
              <a:t>subsystems)</a:t>
            </a:r>
            <a:endParaRPr lang="ru-RU" dirty="0" smtClean="0"/>
          </a:p>
          <a:p>
            <a:r>
              <a:rPr lang="ru-RU" dirty="0" smtClean="0"/>
              <a:t>СМ МАРС (метод компонентных цепей):</a:t>
            </a:r>
          </a:p>
          <a:p>
            <a:pPr lvl="1"/>
            <a:r>
              <a:rPr lang="en-US" dirty="0" smtClean="0"/>
              <a:t>V-</a:t>
            </a:r>
            <a:r>
              <a:rPr lang="ru-RU" dirty="0" smtClean="0"/>
              <a:t>уровень: для ручного управления моделью и вывода результатов моделирования (виртуальные измерительные приборы)</a:t>
            </a:r>
          </a:p>
          <a:p>
            <a:pPr lvl="1"/>
            <a:r>
              <a:rPr lang="en-US" dirty="0" smtClean="0"/>
              <a:t>L-</a:t>
            </a:r>
            <a:r>
              <a:rPr lang="ru-RU" dirty="0" smtClean="0"/>
              <a:t>уровень: для построения алгоритмов обработки данных и управления объектом, описания дискретного поведения (конечные автоматы)</a:t>
            </a:r>
          </a:p>
          <a:p>
            <a:pPr lvl="1"/>
            <a:r>
              <a:rPr lang="ru-RU" dirty="0" smtClean="0"/>
              <a:t>С-уровень: для построения моделей непрерывного поведения (в виде аналитических или структурных моделей).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11.02.2025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79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065"/>
            <a:ext cx="10815484" cy="735535"/>
          </a:xfrm>
        </p:spPr>
        <p:txBody>
          <a:bodyPr>
            <a:noAutofit/>
          </a:bodyPr>
          <a:lstStyle/>
          <a:p>
            <a:r>
              <a:rPr lang="ru-RU" sz="2400" dirty="0"/>
              <a:t>Компоненты среды моделирования МАРС (версия 1.0)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6645" y="736600"/>
            <a:ext cx="11157155" cy="5440363"/>
          </a:xfrm>
        </p:spPr>
        <p:txBody>
          <a:bodyPr/>
          <a:lstStyle/>
          <a:p>
            <a:r>
              <a:rPr lang="en-US" dirty="0"/>
              <a:t>V-</a:t>
            </a:r>
            <a:r>
              <a:rPr lang="ru-RU" dirty="0"/>
              <a:t>уровень: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en-US" dirty="0"/>
              <a:t>L-</a:t>
            </a:r>
            <a:r>
              <a:rPr lang="ru-RU" dirty="0"/>
              <a:t>уровень:</a:t>
            </a:r>
          </a:p>
          <a:p>
            <a:endParaRPr lang="ru-RU" dirty="0"/>
          </a:p>
          <a:p>
            <a:endParaRPr lang="ru-RU" dirty="0"/>
          </a:p>
          <a:p>
            <a:endParaRPr lang="en-US" dirty="0"/>
          </a:p>
          <a:p>
            <a:endParaRPr lang="ru-RU" dirty="0"/>
          </a:p>
          <a:p>
            <a:r>
              <a:rPr lang="en-US" dirty="0"/>
              <a:t>C-</a:t>
            </a:r>
            <a:r>
              <a:rPr lang="ru-RU" dirty="0"/>
              <a:t>уровень: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870" y="701764"/>
            <a:ext cx="6419850" cy="14192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70" y="2126792"/>
            <a:ext cx="5857875" cy="29527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b="5488"/>
          <a:stretch/>
        </p:blipFill>
        <p:spPr>
          <a:xfrm>
            <a:off x="2981870" y="5092537"/>
            <a:ext cx="5600700" cy="13953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83634" y="736600"/>
            <a:ext cx="2447107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Регуляторы, измерители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2080" y="2225444"/>
            <a:ext cx="2908661" cy="280076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 обработки данных, аппроксимации, интеллектуальные блоки управления, компоненты управления «расчетом», простые логические блоки, конечные автоматы, блоки работы с источниками данных, блоки 3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визуализации, блоки взаимодействия с микроконтроллером.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60450" y="5037484"/>
            <a:ext cx="282674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Блоки САУ, электромеханики, модели датчиков и исполнительных устройств, аналитические модели, блоки механики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959" y="1258530"/>
            <a:ext cx="2013514" cy="1543966"/>
          </a:xfrm>
          <a:prstGeom prst="rect">
            <a:avLst/>
          </a:prstGeom>
        </p:spPr>
      </p:pic>
      <p:sp>
        <p:nvSpPr>
          <p:cNvPr id="1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15" name="Нижний колонтитул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558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70467" y="144998"/>
            <a:ext cx="10515600" cy="73553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Пример модели: транспортировка и хранение жидкости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388533"/>
            <a:ext cx="10515600" cy="478843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11.02.2025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7" name="Рисунок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2" y="4281291"/>
            <a:ext cx="6096000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 descr="https://cdn.discordapp.com/attachments/701661147501297686/1252274590462509181/image.png?ex=66778dd8&amp;is=66763c58&amp;hm=44f637ccc5aaf569817843fb33a2be3a46e3a9f1cdfe5d87464abeb521df88ec&amp;=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2200" y="1388533"/>
            <a:ext cx="2647950" cy="2537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544" y="1388533"/>
            <a:ext cx="44100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045" y="3860630"/>
            <a:ext cx="5812413" cy="2390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74133" y="999067"/>
            <a:ext cx="570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V-</a:t>
            </a:r>
            <a:r>
              <a:rPr lang="ru-RU" dirty="0" smtClean="0"/>
              <a:t>уровень: измерение и управление уровнем жидкости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101869" y="4036542"/>
            <a:ext cx="4842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C-</a:t>
            </a:r>
            <a:r>
              <a:rPr lang="ru-RU" dirty="0" smtClean="0"/>
              <a:t>уровень: фрагмент трубопровода с ёмкостью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188345" y="3491298"/>
            <a:ext cx="4247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L-</a:t>
            </a:r>
            <a:r>
              <a:rPr lang="ru-RU" dirty="0" smtClean="0"/>
              <a:t>уровень:</a:t>
            </a:r>
            <a:r>
              <a:rPr lang="en-US" dirty="0" smtClean="0"/>
              <a:t> </a:t>
            </a:r>
            <a:r>
              <a:rPr lang="ru-RU" dirty="0" smtClean="0"/>
              <a:t>модель нечёткого управления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8354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6267" y="1"/>
            <a:ext cx="10651066" cy="1325563"/>
          </a:xfrm>
        </p:spPr>
        <p:txBody>
          <a:bodyPr>
            <a:noAutofit/>
          </a:bodyPr>
          <a:lstStyle/>
          <a:p>
            <a:r>
              <a:rPr lang="ru-RU" sz="3200" dirty="0"/>
              <a:t>Формальная структура многоуровневой компьютерной модели СТУС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83267" y="4914271"/>
            <a:ext cx="8456083" cy="157860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Уровень</a:t>
            </a:r>
            <a:r>
              <a:rPr lang="ru-RU" dirty="0"/>
              <a:t> - степень абстракции при исследовании объекта (</a:t>
            </a:r>
            <a:r>
              <a:rPr lang="en-US" dirty="0"/>
              <a:t>C-, L-, V-, R-</a:t>
            </a:r>
            <a:r>
              <a:rPr lang="ru-RU" dirty="0"/>
              <a:t>)</a:t>
            </a:r>
            <a:r>
              <a:rPr lang="en-US" dirty="0"/>
              <a:t>.</a:t>
            </a:r>
          </a:p>
          <a:p>
            <a:r>
              <a:rPr lang="ru-RU" b="1" dirty="0"/>
              <a:t>Слой</a:t>
            </a:r>
            <a:r>
              <a:rPr lang="ru-RU" dirty="0"/>
              <a:t> – результаты декомпозиции уровня по критерию / аспекту: структурному, функциональному, иерархическому и пр.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7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267" y="1146358"/>
            <a:ext cx="9025467" cy="3767913"/>
          </a:xfrm>
          <a:prstGeom prst="rect">
            <a:avLst/>
          </a:prstGeom>
        </p:spPr>
      </p:pic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7227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Концептуальная модель нейросетевой</a:t>
            </a:r>
            <a:r>
              <a:rPr lang="en-US" sz="3200" dirty="0"/>
              <a:t> </a:t>
            </a:r>
            <a:r>
              <a:rPr lang="ru-RU" sz="3200" dirty="0"/>
              <a:t>системы управления в методе компонентных цепей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8</a:t>
            </a:fld>
            <a:endParaRPr lang="ru-RU"/>
          </a:p>
        </p:txBody>
      </p:sp>
      <p:pic>
        <p:nvPicPr>
          <p:cNvPr id="5" name="Объект 4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125" y="1825625"/>
            <a:ext cx="566174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4264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96733" y="59270"/>
            <a:ext cx="7886700" cy="785567"/>
          </a:xfrm>
        </p:spPr>
        <p:txBody>
          <a:bodyPr>
            <a:normAutofit fontScale="90000"/>
          </a:bodyPr>
          <a:lstStyle/>
          <a:p>
            <a:r>
              <a:rPr lang="ru-RU" sz="3600" dirty="0"/>
              <a:t>Примеры частных структур моделей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9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82131"/>
            <a:ext cx="4533900" cy="401002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084" y="982131"/>
            <a:ext cx="4527917" cy="40047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96534" y="4976591"/>
            <a:ext cx="4161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Многоуровневая схема управления группой объектов (например, </a:t>
            </a:r>
            <a:r>
              <a:rPr lang="ru-RU" dirty="0" smtClean="0"/>
              <a:t>группа установок или «рой объектов»</a:t>
            </a:r>
            <a:r>
              <a:rPr lang="ru-RU" dirty="0" smtClean="0"/>
              <a:t>)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323358" y="4998180"/>
            <a:ext cx="41613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Многоуровневая схема управления объектом с дискретно-непрерывным поведением (например: штатный режим, режим повышенной опасности, аварийный режим) </a:t>
            </a:r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765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0134" y="365127"/>
            <a:ext cx="5884576" cy="1325563"/>
          </a:xfrm>
        </p:spPr>
        <p:txBody>
          <a:bodyPr>
            <a:noAutofit/>
          </a:bodyPr>
          <a:lstStyle/>
          <a:p>
            <a:r>
              <a:rPr lang="ru-RU" sz="2800" dirty="0"/>
              <a:t>Обобщённая многоуровневая модель иерархического управления роем объектов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5162006" cy="4401004"/>
          </a:xfrm>
        </p:spPr>
        <p:txBody>
          <a:bodyPr>
            <a:normAutofit/>
          </a:bodyPr>
          <a:lstStyle/>
          <a:p>
            <a:r>
              <a:rPr lang="ru-RU" sz="2400" dirty="0"/>
              <a:t>Каждый объект на отдельном слое </a:t>
            </a:r>
            <a:r>
              <a:rPr lang="en-US" sz="2400" dirty="0"/>
              <a:t>C-</a:t>
            </a:r>
            <a:r>
              <a:rPr lang="ru-RU" sz="2400" dirty="0"/>
              <a:t>уровня</a:t>
            </a:r>
          </a:p>
          <a:p>
            <a:r>
              <a:rPr lang="ru-RU" sz="2400" dirty="0"/>
              <a:t>Отдельные слои для управления на </a:t>
            </a:r>
            <a:r>
              <a:rPr lang="en-US" sz="2400" dirty="0"/>
              <a:t>L</a:t>
            </a:r>
            <a:r>
              <a:rPr lang="ru-RU" sz="2400" dirty="0"/>
              <a:t>-уровне с возможностью применения конечных автоматов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026" name="Рисунок 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301" y="189867"/>
            <a:ext cx="5753100" cy="621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240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5634" y="457200"/>
            <a:ext cx="5258532" cy="1600200"/>
          </a:xfrm>
        </p:spPr>
        <p:txBody>
          <a:bodyPr anchor="ctr">
            <a:noAutofit/>
          </a:bodyPr>
          <a:lstStyle/>
          <a:p>
            <a:r>
              <a:rPr lang="ru-RU" sz="2400" dirty="0"/>
              <a:t>Детализация связки оперативного уровня и тактического управления и модели объекта управления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50223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/>
              <a:t>Алгоритмическая компонентная цепь может содержать: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 err="1"/>
              <a:t>Нейросети</a:t>
            </a:r>
            <a:r>
              <a:rPr lang="ru-RU" sz="1600" dirty="0"/>
              <a:t> (прямого распространения; в работе – </a:t>
            </a:r>
            <a:r>
              <a:rPr lang="ru-RU" sz="1600" dirty="0" err="1"/>
              <a:t>свёрточные</a:t>
            </a:r>
            <a:r>
              <a:rPr lang="ru-RU" sz="1600" dirty="0"/>
              <a:t> и </a:t>
            </a:r>
            <a:r>
              <a:rPr lang="ru-RU" sz="1600" dirty="0" err="1"/>
              <a:t>реккурентные</a:t>
            </a:r>
            <a:r>
              <a:rPr lang="ru-RU" sz="1600" dirty="0"/>
              <a:t>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Системы нечёткого вида (</a:t>
            </a:r>
            <a:r>
              <a:rPr lang="ru-RU" sz="1600" dirty="0" err="1"/>
              <a:t>Мамдани</a:t>
            </a:r>
            <a:r>
              <a:rPr lang="ru-RU" sz="1600" dirty="0"/>
              <a:t> и </a:t>
            </a:r>
            <a:r>
              <a:rPr lang="ru-RU" sz="1600" dirty="0" err="1"/>
              <a:t>Сугено</a:t>
            </a:r>
            <a:r>
              <a:rPr lang="ru-RU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Диаграммы состояний,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Логические операторы,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Блоки для расчёта траекторий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и др.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8" name="Рисунок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166" y="987425"/>
            <a:ext cx="5450244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</a:p>
        </p:txBody>
      </p:sp>
      <p:sp>
        <p:nvSpPr>
          <p:cNvPr id="9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590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Такая декомпозиция </a:t>
            </a:r>
            <a:r>
              <a:rPr lang="ru-RU" dirty="0" smtClean="0"/>
              <a:t>позволит:</a:t>
            </a:r>
          </a:p>
          <a:p>
            <a:pPr lvl="1"/>
            <a:r>
              <a:rPr lang="ru-RU" dirty="0" smtClean="0"/>
              <a:t>Строить </a:t>
            </a:r>
            <a:r>
              <a:rPr lang="ru-RU" dirty="0"/>
              <a:t>иерархические ИСУ для управления сложными системами, состоящими из множества подсистем с учётом их взаимного влияния. </a:t>
            </a:r>
          </a:p>
          <a:p>
            <a:pPr lvl="2"/>
            <a:r>
              <a:rPr lang="ru-RU" b="1" dirty="0"/>
              <a:t>Тактический</a:t>
            </a:r>
            <a:r>
              <a:rPr lang="ru-RU" dirty="0"/>
              <a:t> уровень управления системой позволит переключаться с одной системы управления на другую в зависимости от состояния системы и внешней среды, </a:t>
            </a:r>
          </a:p>
          <a:p>
            <a:pPr lvl="2"/>
            <a:r>
              <a:rPr lang="ru-RU" b="1" dirty="0"/>
              <a:t>стратегический</a:t>
            </a:r>
            <a:r>
              <a:rPr lang="ru-RU" dirty="0"/>
              <a:t> определять цель управления системой и корректировать работу нижних уровней управления</a:t>
            </a:r>
            <a:r>
              <a:rPr lang="ru-RU" dirty="0" smtClean="0"/>
              <a:t>.</a:t>
            </a:r>
          </a:p>
          <a:p>
            <a:pPr lvl="1"/>
            <a:r>
              <a:rPr lang="ru-RU" dirty="0" smtClean="0"/>
              <a:t>Организовать работу вычислительного эксперимента «послойно».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22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9ACD2-92B0-4F6E-9302-7D5DE7C208A3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ct val="20000"/>
              </a:spcBef>
              <a:buNone/>
            </a:pPr>
            <a:r>
              <a:rPr lang="ru-RU" altLang="ru-RU" b="1" dirty="0">
                <a:solidFill>
                  <a:srgbClr val="0070C0"/>
                </a:solidFill>
              </a:rPr>
              <a:t>Спасибо за внимание!</a:t>
            </a:r>
          </a:p>
          <a:p>
            <a:pPr marL="0" indent="0" algn="ctr">
              <a:spcBef>
                <a:spcPct val="20000"/>
              </a:spcBef>
              <a:buNone/>
            </a:pPr>
            <a:endParaRPr lang="ru-RU" altLang="ru-RU" dirty="0"/>
          </a:p>
          <a:p>
            <a:pPr marL="0" indent="0" algn="ctr">
              <a:spcBef>
                <a:spcPct val="20000"/>
              </a:spcBef>
              <a:buNone/>
            </a:pPr>
            <a:r>
              <a:rPr lang="ru-RU" altLang="ru-RU" dirty="0"/>
              <a:t>Кочергин Максим Игоревич,</a:t>
            </a:r>
          </a:p>
          <a:p>
            <a:pPr marL="0" indent="0" algn="ctr">
              <a:spcBef>
                <a:spcPct val="20000"/>
              </a:spcBef>
              <a:buNone/>
            </a:pPr>
            <a:r>
              <a:rPr lang="ru-RU" altLang="ru-RU" dirty="0"/>
              <a:t>к.т.н., доцент каф. КСУП ТУСУР </a:t>
            </a:r>
          </a:p>
          <a:p>
            <a:pPr marL="0" indent="0" algn="ctr">
              <a:spcBef>
                <a:spcPct val="20000"/>
              </a:spcBef>
              <a:buNone/>
            </a:pPr>
            <a:r>
              <a:rPr lang="en-US" altLang="ru-RU" dirty="0"/>
              <a:t>E-mail: </a:t>
            </a:r>
            <a:r>
              <a:rPr lang="en-US" altLang="ru-RU" dirty="0">
                <a:solidFill>
                  <a:srgbClr val="0070C0"/>
                </a:solidFill>
                <a:hlinkClick r:id="rId2"/>
              </a:rPr>
              <a:t>maksim.i.kochergin@tusur.ru</a:t>
            </a:r>
            <a:endParaRPr lang="ru-RU" alt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6" name="Дата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11.02.2025</a:t>
            </a:r>
            <a:endParaRPr lang="ru-RU" dirty="0"/>
          </a:p>
        </p:txBody>
      </p:sp>
      <p:sp>
        <p:nvSpPr>
          <p:cNvPr id="7" name="Нижний колонтитул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IV Научно-практическая конференция «Физико-технические интеллектуальные системы»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4863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ии ТУСУР_16x9_new.potx" id="{F40E4B99-BB75-493C-A820-F5DC6DD23834}" vid="{7E4FA006-2386-4FDC-AEB6-0DCA46C9789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 презентации ТУСУР_16x9_new</Template>
  <TotalTime>332</TotalTime>
  <Words>642</Words>
  <Application>Microsoft Office PowerPoint</Application>
  <PresentationFormat>Широкоэкранный</PresentationFormat>
  <Paragraphs>109</Paragraphs>
  <Slides>13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Times New Roman</vt:lpstr>
      <vt:lpstr>Verdana</vt:lpstr>
      <vt:lpstr>Wingdings</vt:lpstr>
      <vt:lpstr>Тема Office</vt:lpstr>
      <vt:lpstr>Visio</vt:lpstr>
      <vt:lpstr>Декомпозиция алгоритма интеллектуального управления техническим объектом на слои в многоуровневой компьютерной модели</vt:lpstr>
      <vt:lpstr>Цель доклада</vt:lpstr>
      <vt:lpstr>Метод многоуровневых компонентных цепей </vt:lpstr>
      <vt:lpstr>Сравнение подходов</vt:lpstr>
      <vt:lpstr>Компоненты среды моделирования МАРС (версия 1.0)</vt:lpstr>
      <vt:lpstr>Пример модели: транспортировка и хранение жидкости</vt:lpstr>
      <vt:lpstr>Формальная структура многоуровневой компьютерной модели СТУС</vt:lpstr>
      <vt:lpstr>Концептуальная модель нейросетевой системы управления в методе компонентных цепей</vt:lpstr>
      <vt:lpstr>Примеры частных структур моделей</vt:lpstr>
      <vt:lpstr>Обобщённая многоуровневая модель иерархического управления роем объектов</vt:lpstr>
      <vt:lpstr>Детализация связки оперативного уровня и тактического управления и модели объекта управления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Декомпозиция алгоритма интеллектуального управления техническим объектом на слои в многоуровневой компьютерной модели</dc:title>
  <dc:creator>Максим Кочергин</dc:creator>
  <cp:lastModifiedBy>Максим Кочергин</cp:lastModifiedBy>
  <cp:revision>14</cp:revision>
  <cp:lastPrinted>2025-01-20T08:01:47Z</cp:lastPrinted>
  <dcterms:created xsi:type="dcterms:W3CDTF">2025-01-20T07:47:32Z</dcterms:created>
  <dcterms:modified xsi:type="dcterms:W3CDTF">2025-02-13T11:11:05Z</dcterms:modified>
</cp:coreProperties>
</file>