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0" r:id="rId3"/>
    <p:sldId id="259" r:id="rId4"/>
    <p:sldId id="261" r:id="rId5"/>
    <p:sldId id="262" r:id="rId6"/>
    <p:sldId id="263" r:id="rId7"/>
    <p:sldId id="27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88D"/>
    <a:srgbClr val="F7F7FB"/>
    <a:srgbClr val="DCDCFF"/>
    <a:srgbClr val="F0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228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C1525-B843-4853-A3BF-F8EB5CD0E51D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AAB5B-7531-489E-88B7-D5997F556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77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956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787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081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053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465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231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839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281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10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43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09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860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48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3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47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8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08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77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54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73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64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60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17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491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xmlns="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19.05.2025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1250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B96FE-5FFD-4A21-A72A-43F900A5218B}" type="datetimeFigureOut">
              <a:rPr lang="ru-RU" smtClean="0"/>
              <a:t>19.05.2025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226F5-A914-4B33-9562-D6C715B22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81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88" y="2959866"/>
            <a:ext cx="10729823" cy="938268"/>
          </a:xfrm>
        </p:spPr>
        <p:txBody>
          <a:bodyPr>
            <a:normAutofit fontScale="90000"/>
          </a:bodyPr>
          <a:lstStyle/>
          <a:p>
            <a:pPr algn="ctr">
              <a:spcAft>
                <a:spcPts val="600"/>
              </a:spcAft>
            </a:pPr>
            <a:r>
              <a:rPr lang="ru-RU" sz="3600" b="1" dirty="0"/>
              <a:t>ПРОЕКТИРОВАНИЕ БИБЛИОТЕКИ БАЗОВЫХ МОДЕЛЕЙ УПРАВЛЕНИЯ </a:t>
            </a:r>
            <a:r>
              <a:rPr lang="ru-RU" sz="3600" b="1" dirty="0" smtClean="0"/>
              <a:t>АППАРАТАМИ ГТС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8542057" y="4456497"/>
            <a:ext cx="3440429" cy="2164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каф. КСУП:</a:t>
            </a:r>
          </a:p>
          <a:p>
            <a:pPr algn="r">
              <a:lnSpc>
                <a:spcPts val="2000"/>
              </a:lnSpc>
            </a:pPr>
            <a:r>
              <a:rPr lang="ru-RU" sz="1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Зинич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К. Д., гр. 523</a:t>
            </a:r>
          </a:p>
          <a:p>
            <a:pPr algn="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Пустовалов С. А., гр. 523</a:t>
            </a:r>
          </a:p>
          <a:p>
            <a:pPr algn="r">
              <a:lnSpc>
                <a:spcPts val="2000"/>
              </a:lnSpc>
            </a:pPr>
            <a:r>
              <a:rPr lang="ru-RU" sz="1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Лазебный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К. В., гр. 523</a:t>
            </a:r>
          </a:p>
          <a:p>
            <a:pPr algn="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Самойленко Д. А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., гр. 573-1</a:t>
            </a:r>
            <a:endParaRPr lang="ru-RU" sz="1600" dirty="0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Руководитель: Кочергин М. И.</a:t>
            </a:r>
          </a:p>
          <a:p>
            <a:pPr algn="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доцент 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аф. КСУП, к.т.н.</a:t>
            </a:r>
          </a:p>
          <a:p>
            <a:pPr algn="r"/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12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</a:t>
            </a:r>
            <a:endParaRPr lang="ru-RU" sz="28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733" y="1271396"/>
            <a:ext cx="11333692" cy="2154436"/>
          </a:xfrm>
          <a:prstGeom prst="rect">
            <a:avLst/>
          </a:prstGeom>
          <a:solidFill>
            <a:srgbClr val="F7F7FB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Актуальность</a:t>
            </a:r>
            <a:endParaRPr lang="ru-RU" sz="12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200" dirty="0" smtClean="0"/>
              <a:t>	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900" dirty="0" smtClean="0"/>
              <a:t>	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9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9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9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8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1590675" y="1626531"/>
            <a:ext cx="9440333" cy="369332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Стандартизация и унификация процессов управления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1590675" y="2207603"/>
            <a:ext cx="9440334" cy="369332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Возможность быстрого и эффективного проектирования новых систем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590675" y="2788675"/>
            <a:ext cx="9440332" cy="369332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Упрощение задач моделирования и верификации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733" y="3780277"/>
            <a:ext cx="11333692" cy="1200329"/>
          </a:xfrm>
          <a:prstGeom prst="rect">
            <a:avLst/>
          </a:prstGeom>
          <a:solidFill>
            <a:srgbClr val="F7F7FB"/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Цель </a:t>
            </a:r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	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1590675" y="4057275"/>
            <a:ext cx="9963149" cy="584775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Разработка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концептуального подхода к созданию библиотеки базовых управляемых моделей аппаратов (БУМА) для типового оборудования в среде моделирования МАРС </a:t>
            </a:r>
            <a:endParaRPr lang="ru-RU" sz="16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1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</a:t>
            </a:r>
            <a:endParaRPr lang="ru-RU" sz="28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733" y="1265890"/>
            <a:ext cx="11333692" cy="3600986"/>
          </a:xfrm>
          <a:prstGeom prst="rect">
            <a:avLst/>
          </a:prstGeom>
          <a:solidFill>
            <a:srgbClr val="F7F7FB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 smtClean="0">
                <a:latin typeface="Verdana" panose="020B0604030504040204" pitchFamily="34" charset="0"/>
                <a:ea typeface="Verdana" panose="020B0604030504040204" pitchFamily="34" charset="0"/>
              </a:rPr>
              <a:t>Задачи</a:t>
            </a:r>
            <a:endParaRPr lang="ru-RU" sz="16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/>
              <a:t>	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/>
              <a:t>	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16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/>
              <a:t>	</a:t>
            </a:r>
            <a:endParaRPr lang="ru-RU" sz="16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1600" dirty="0" smtClean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1600" dirty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sz="1600" dirty="0" smtClean="0"/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ru-RU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1590675" y="1544111"/>
            <a:ext cx="9963147" cy="584775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Идентифицировать основные типы оборудования газотранспортных систем, требующие моделей управления (насосы, нагреватели, резервуары)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90675" y="2271248"/>
            <a:ext cx="9963147" cy="830997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Определить управляющие и управляемые переменные для каждого типа оборудования, а также допустимые диапазоны их значений с учетом физических и технологических ограничений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90675" y="3244607"/>
            <a:ext cx="9963146" cy="584775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Разработать примеры базовых моделей управления для выбранных типов оборудования, включая модель на основе нечеткой логики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90675" y="3977611"/>
            <a:ext cx="9963145" cy="584775"/>
          </a:xfrm>
          <a:prstGeom prst="rect">
            <a:avLst/>
          </a:prstGeom>
          <a:solidFill>
            <a:srgbClr val="DCDCFF"/>
          </a:solidFill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Сформировать структуру и принципы организации библиотеки моделей, обеспечивающие удобство использования и масштабируемость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9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/>
          <p:cNvSpPr/>
          <p:nvPr/>
        </p:nvSpPr>
        <p:spPr>
          <a:xfrm>
            <a:off x="6914871" y="1792211"/>
            <a:ext cx="4123922" cy="857250"/>
          </a:xfrm>
          <a:prstGeom prst="ellipse">
            <a:avLst/>
          </a:prstGeom>
          <a:solidFill>
            <a:srgbClr val="F7F7FB"/>
          </a:solidFill>
          <a:ln>
            <a:solidFill>
              <a:srgbClr val="F7F7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СМ МАРС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4" name="Объект 1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11060918"/>
              </p:ext>
            </p:extLst>
          </p:nvPr>
        </p:nvGraphicFramePr>
        <p:xfrm>
          <a:off x="1158345" y="1920611"/>
          <a:ext cx="5257811" cy="301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Visio" r:id="rId6" imgW="2905241" imgH="1666782" progId="Visio.Drawing.15">
                  <p:embed/>
                </p:oleObj>
              </mc:Choice>
              <mc:Fallback>
                <p:oleObj name="Visio" r:id="rId6" imgW="2905241" imgH="1666782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345" y="1920611"/>
                        <a:ext cx="5257811" cy="30167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48733" y="1046408"/>
            <a:ext cx="4055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Подход к моделированию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5594" y="2004255"/>
            <a:ext cx="504762" cy="428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36945" y="2049263"/>
            <a:ext cx="4101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средства визуализации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6914871" y="2948415"/>
            <a:ext cx="4123922" cy="817975"/>
          </a:xfrm>
          <a:prstGeom prst="ellipse">
            <a:avLst/>
          </a:prstGeom>
          <a:solidFill>
            <a:srgbClr val="F7F7FB"/>
          </a:solidFill>
          <a:ln>
            <a:solidFill>
              <a:srgbClr val="F7F7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6936945" y="3061514"/>
            <a:ext cx="4101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средства имитационного моделирования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132" y="3156769"/>
            <a:ext cx="504762" cy="428571"/>
          </a:xfrm>
          <a:prstGeom prst="rect">
            <a:avLst/>
          </a:prstGeom>
        </p:spPr>
      </p:pic>
      <p:sp>
        <p:nvSpPr>
          <p:cNvPr id="28" name="Овал 27"/>
          <p:cNvSpPr/>
          <p:nvPr/>
        </p:nvSpPr>
        <p:spPr>
          <a:xfrm>
            <a:off x="6936945" y="4173033"/>
            <a:ext cx="4101848" cy="881864"/>
          </a:xfrm>
          <a:prstGeom prst="ellipse">
            <a:avLst/>
          </a:prstGeom>
          <a:solidFill>
            <a:srgbClr val="F7F7FB"/>
          </a:solidFill>
          <a:ln>
            <a:solidFill>
              <a:srgbClr val="F7F7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6936945" y="4310440"/>
            <a:ext cx="4101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средства математического (аналитического) моделирования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132" y="4402849"/>
            <a:ext cx="504762" cy="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СМ МАРС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8733" y="1046408"/>
            <a:ext cx="3602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компонентов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Объект 2"/>
          <p:cNvSpPr>
            <a:spLocks noGrp="1"/>
          </p:cNvSpPr>
          <p:nvPr>
            <p:ph idx="1"/>
          </p:nvPr>
        </p:nvSpPr>
        <p:spPr>
          <a:xfrm>
            <a:off x="247309" y="1481651"/>
            <a:ext cx="11087100" cy="4841673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V-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уровень: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уровень:</a:t>
            </a:r>
          </a:p>
          <a:p>
            <a:endParaRPr lang="ru-RU" sz="3200" dirty="0"/>
          </a:p>
          <a:p>
            <a:endParaRPr lang="ru-RU" sz="3200" dirty="0"/>
          </a:p>
          <a:p>
            <a:pPr marL="0" indent="0">
              <a:buNone/>
            </a:pPr>
            <a:endParaRPr lang="ru-RU" sz="2400" dirty="0"/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уровень:</a:t>
            </a: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506" y="1569504"/>
            <a:ext cx="4963070" cy="1097177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506" y="2807893"/>
            <a:ext cx="4963070" cy="250171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 rotWithShape="1">
          <a:blip r:embed="rId7"/>
          <a:srcRect b="5488"/>
          <a:stretch/>
        </p:blipFill>
        <p:spPr>
          <a:xfrm>
            <a:off x="2545506" y="5450815"/>
            <a:ext cx="4531569" cy="112898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584078" y="1948815"/>
            <a:ext cx="3332934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Регуляторы, измерители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4078" y="2781475"/>
            <a:ext cx="3332934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обработки данных, аппроксимации, интеллектуальные блоки управления, компоненты управления «расчетом», простые логические блоки, конечные автоматы, блоки работы с источниками данных, блоки 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визуализации, блоки взаимодействия с микроконтроллером.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4078" y="5476699"/>
            <a:ext cx="333293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САУ, электромеханики, модели датчиков и исполнительных устройств, аналитические модели, блоки механики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128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МОДЕЛЬ НЕЧЁТКОГО РЕГУЛЯТОРА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6126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двух лингвистических переменных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063" y="1666609"/>
            <a:ext cx="7962900" cy="38385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071" y="1849491"/>
            <a:ext cx="1342857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2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087" y="2883935"/>
            <a:ext cx="3259461" cy="2444596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МОДЕЛЬ НЕЧЁТКОГО РЕГУЛЯТОРА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838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База знаний регуляторов разработанных компонентов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733" y="1626766"/>
            <a:ext cx="203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База правил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47087" y="1626766"/>
            <a:ext cx="2090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База данных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1926" y="2026298"/>
            <a:ext cx="82105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ЕСЛИ значение 1-ой переменной (отклонения) относится к 3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ему множеству (положительное), то значение выходной переменной равно 1.</a:t>
            </a:r>
            <a:endParaRPr lang="en-US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ЕСЛИ значение 1-ой переменной (отклонения) относится ко 2-ому множеству (нулевое) И значение 2-ой переменной (скорости изменения) - к 3-ему 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(положительное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), то значение выходной переменной равно 2.</a:t>
            </a:r>
            <a:endParaRPr lang="en-US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ЕСЛИ значение 1-ой переменной (отклонения) относится ко 2-ому множеству (нулевое) И значение 2-ой переменной 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(скорости изменения)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- к 2-ому (нулевое), то значение выходной переменной равно 3.</a:t>
            </a:r>
            <a:endParaRPr lang="en-US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ЕСЛИ значение 1-ой 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(отклонения)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переменной относится ко 2-ому множеству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(нулевое)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И значение 2-ой переменной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(скорости изменения)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- к 1-ому (отрицательное), то значение выходной переменной равно 4.</a:t>
            </a:r>
            <a:endParaRPr lang="en-US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ЕСЛИ значение 1-ой переменной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(отклонения)</a:t>
            </a:r>
            <a:r>
              <a:rPr lang="ru-RU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относится к 1 множеству (отрицательное), то значение выходной переменной равно 5.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47087" y="2094696"/>
            <a:ext cx="2906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График функций принадлежности входных переменных: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067050" y="1626766"/>
            <a:ext cx="1495922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ru-RU" dirty="0" smtClean="0"/>
              <a:t>Обозначения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838700" y="1626766"/>
            <a:ext cx="2907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X, y – </a:t>
            </a:r>
            <a:r>
              <a:rPr lang="ru-RU" dirty="0" smtClean="0"/>
              <a:t>входные, </a:t>
            </a:r>
            <a:r>
              <a:rPr lang="en-US" dirty="0" smtClean="0"/>
              <a:t>z - </a:t>
            </a:r>
            <a:r>
              <a:rPr lang="ru-RU" dirty="0" smtClean="0"/>
              <a:t>выходная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451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19150" y="1819275"/>
            <a:ext cx="9915525" cy="41338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ЦЕНТРОБЕЖНЫЙ НАСОС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3805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Математическая модель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776" y="1473838"/>
            <a:ext cx="4945474" cy="121221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3031487"/>
            <a:ext cx="47529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7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ЦЕНТРОБЕЖНЫЙ НАСОС</a:t>
            </a:r>
            <a:endParaRPr lang="ru-RU" sz="2800" b="1" dirty="0" smtClean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4650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Модель нечёткого регулятора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938" y="1614487"/>
            <a:ext cx="8439150" cy="38385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771" y="1843141"/>
            <a:ext cx="1342857" cy="866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91275" y="5676900"/>
            <a:ext cx="3221972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ru-RU" dirty="0" smtClean="0"/>
              <a:t>Ввести переменные и легенду.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84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61950" y="1571625"/>
            <a:ext cx="10829925" cy="4457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ЁМКОСТЬ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3805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Математическая модель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" y="1438103"/>
            <a:ext cx="5937504" cy="24932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733" y="2123809"/>
            <a:ext cx="2514600" cy="29241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389" y="4362278"/>
            <a:ext cx="3822192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3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ЁМКОСТЬ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733" y="1046408"/>
            <a:ext cx="46506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Модель нечёткого регулятора</a:t>
            </a:r>
            <a:endParaRPr lang="ru-RU" sz="2000" b="1" dirty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938" y="1681162"/>
            <a:ext cx="84391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7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СПИСОК РАЗАРАБОТАННЫХ КОМПОНЕНТОВ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8675" y="891778"/>
            <a:ext cx="508312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>
                <a:solidFill>
                  <a:srgbClr val="FF0000"/>
                </a:solidFill>
              </a:rPr>
              <a:t>Центробежный насос</a:t>
            </a:r>
          </a:p>
          <a:p>
            <a:endParaRPr lang="ru-RU" sz="4000" dirty="0">
              <a:solidFill>
                <a:srgbClr val="FF0000"/>
              </a:solidFill>
            </a:endParaRPr>
          </a:p>
          <a:p>
            <a:r>
              <a:rPr lang="ru-RU" sz="4000" dirty="0" smtClean="0">
                <a:solidFill>
                  <a:srgbClr val="FF0000"/>
                </a:solidFill>
              </a:rPr>
              <a:t>Труба</a:t>
            </a:r>
          </a:p>
          <a:p>
            <a:endParaRPr lang="ru-RU" sz="4000" dirty="0">
              <a:solidFill>
                <a:srgbClr val="FF0000"/>
              </a:solidFill>
            </a:endParaRPr>
          </a:p>
          <a:p>
            <a:r>
              <a:rPr lang="ru-RU" sz="4000" dirty="0" smtClean="0">
                <a:solidFill>
                  <a:srgbClr val="FF0000"/>
                </a:solidFill>
              </a:rPr>
              <a:t>Ёмкость</a:t>
            </a:r>
          </a:p>
          <a:p>
            <a:endParaRPr lang="ru-RU" sz="4000" dirty="0">
              <a:solidFill>
                <a:srgbClr val="FF0000"/>
              </a:solidFill>
            </a:endParaRPr>
          </a:p>
          <a:p>
            <a:r>
              <a:rPr lang="ru-RU" sz="4000" dirty="0" smtClean="0">
                <a:solidFill>
                  <a:srgbClr val="FF0000"/>
                </a:solidFill>
              </a:rPr>
              <a:t>Запирающий клапан</a:t>
            </a:r>
          </a:p>
          <a:p>
            <a:endParaRPr lang="ru-RU" sz="4000" dirty="0">
              <a:solidFill>
                <a:srgbClr val="FF0000"/>
              </a:solidFill>
            </a:endParaRPr>
          </a:p>
          <a:p>
            <a:r>
              <a:rPr lang="ru-RU" sz="4000" dirty="0" smtClean="0">
                <a:solidFill>
                  <a:srgbClr val="FF0000"/>
                </a:solidFill>
              </a:rPr>
              <a:t>Регулирующий клапан</a:t>
            </a:r>
            <a:endParaRPr lang="ru-R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51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0542" y="0"/>
            <a:ext cx="12567708" cy="72104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КОМПОНЕНТНОЙ ЦЕПИ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>
          <a:xfrm>
            <a:off x="838200" y="1388533"/>
            <a:ext cx="10515600" cy="478843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2" y="4281291"/>
            <a:ext cx="60960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https://cdn.discordapp.com/attachments/701661147501297686/1252274590462509181/image.png?ex=66778dd8&amp;is=66763c58&amp;hm=44f637ccc5aaf569817843fb33a2be3a46e3a9f1cdfe5d87464abeb521df88ec&amp;=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92200" y="1388533"/>
            <a:ext cx="2647950" cy="2537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544" y="1388533"/>
            <a:ext cx="44100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45" y="3860630"/>
            <a:ext cx="5812413" cy="239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74133" y="999067"/>
            <a:ext cx="570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V-</a:t>
            </a:r>
            <a:r>
              <a:rPr lang="ru-RU" dirty="0" smtClean="0"/>
              <a:t>уровень: измерение и управление уровнем жидкости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101869" y="4036542"/>
            <a:ext cx="484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C-</a:t>
            </a:r>
            <a:r>
              <a:rPr lang="ru-RU" dirty="0" smtClean="0"/>
              <a:t>уровень: фрагмент трубопровода с ёмкостью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188345" y="3491298"/>
            <a:ext cx="424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L-</a:t>
            </a:r>
            <a:r>
              <a:rPr lang="ru-RU" dirty="0" smtClean="0"/>
              <a:t>уровень:</a:t>
            </a:r>
            <a:r>
              <a:rPr lang="en-US" dirty="0" smtClean="0"/>
              <a:t> </a:t>
            </a:r>
            <a:r>
              <a:rPr lang="ru-RU" dirty="0" smtClean="0"/>
              <a:t>модель нечёткого управления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9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xmlns="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ЗАКЛЮЧЕНИЕ</a:t>
            </a:r>
            <a:endParaRPr lang="ru-RU" sz="2800" b="1" dirty="0" smtClean="0">
              <a:solidFill>
                <a:srgbClr val="3C388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9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8733" y="1250284"/>
            <a:ext cx="106955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Разработана библиотека базовых управляемых моделей </a:t>
            </a:r>
            <a:r>
              <a:rPr lang="ru-RU" sz="1600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ключевых аппаратов газотранспортной системы (ёмкость, </a:t>
            </a:r>
            <a:r>
              <a:rPr lang="ru-RU" sz="1600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насос, клапаны, труба), направленная </a:t>
            </a:r>
            <a:r>
              <a:rPr lang="ru-RU" sz="1600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ускорение создания систем автоматизации и повышение их </a:t>
            </a:r>
            <a:r>
              <a:rPr lang="ru-RU" sz="1600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качества.</a:t>
            </a:r>
            <a:r>
              <a:rPr lang="ru-RU" sz="1600" b="1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Дальнейшее развитие включает расширение библиотеки моделями компрессоров, трубопроводов и газораспределительных станций. Необходимо разработать программную </a:t>
            </a:r>
            <a:r>
              <a:rPr lang="ru-RU" sz="1600" dirty="0" smtClean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реализацию, </a:t>
            </a:r>
            <a:r>
              <a:rPr lang="ru-RU" sz="1600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инструменты моделирования и верификации, а также провести тестирование и внедрение на реальных объектах.</a:t>
            </a:r>
          </a:p>
        </p:txBody>
      </p:sp>
    </p:spTree>
    <p:extLst>
      <p:ext uri="{BB962C8B-B14F-4D97-AF65-F5344CB8AC3E}">
        <p14:creationId xmlns:p14="http://schemas.microsoft.com/office/powerpoint/2010/main" val="3265763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8466"/>
            <a:ext cx="12192000" cy="938268"/>
          </a:xfrm>
        </p:spPr>
        <p:txBody>
          <a:bodyPr>
            <a:normAutofit fontScale="90000"/>
          </a:bodyPr>
          <a:lstStyle/>
          <a:p>
            <a:pPr algn="ctr">
              <a:spcAft>
                <a:spcPts val="600"/>
              </a:spcAft>
            </a:pPr>
            <a:r>
              <a:rPr lang="ru-RU" sz="3600" b="1" dirty="0" smtClean="0"/>
              <a:t>СПАСИБО ЗА ВНИМАНИЕ!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4412298" y="4275522"/>
            <a:ext cx="3440429" cy="2164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Студенты каф. КСУП:</a:t>
            </a:r>
          </a:p>
          <a:p>
            <a:pPr algn="ctr">
              <a:lnSpc>
                <a:spcPts val="2000"/>
              </a:lnSpc>
            </a:pPr>
            <a:r>
              <a:rPr lang="ru-RU" sz="1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Зинич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К. Д., гр. 523</a:t>
            </a:r>
          </a:p>
          <a:p>
            <a:pPr algn="ct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Пустовалов С. А., гр. 523</a:t>
            </a:r>
          </a:p>
          <a:p>
            <a:pPr algn="ctr">
              <a:lnSpc>
                <a:spcPts val="2000"/>
              </a:lnSpc>
            </a:pPr>
            <a:r>
              <a:rPr lang="ru-RU" sz="16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Лазебный</a:t>
            </a: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К. В., гр. 523</a:t>
            </a:r>
          </a:p>
          <a:p>
            <a:pPr algn="ct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Самойленко Д. А., гр. 573-1</a:t>
            </a:r>
          </a:p>
          <a:p>
            <a:pPr algn="ct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Руководитель: Кочергин М. И.</a:t>
            </a:r>
          </a:p>
          <a:p>
            <a:pPr algn="ctr">
              <a:lnSpc>
                <a:spcPts val="2000"/>
              </a:lnSpc>
            </a:pPr>
            <a:r>
              <a:rPr lang="ru-RU" sz="16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доцент каф. КСУП, к.т.н.</a:t>
            </a:r>
          </a:p>
          <a:p>
            <a:pPr algn="ctr"/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421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639</Words>
  <Application>Microsoft Office PowerPoint</Application>
  <PresentationFormat>Широкоэкранный</PresentationFormat>
  <Paragraphs>131</Paragraphs>
  <Slides>15</Slides>
  <Notes>13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Nekst Bold</vt:lpstr>
      <vt:lpstr>Times New Roman</vt:lpstr>
      <vt:lpstr>Verdana</vt:lpstr>
      <vt:lpstr>Wingdings</vt:lpstr>
      <vt:lpstr>Тема Office</vt:lpstr>
      <vt:lpstr>Visio</vt:lpstr>
      <vt:lpstr>ПРОЕКТИРОВАНИЕ БИБЛИОТЕКИ БАЗОВЫХ МОДЕЛЕЙ УПРАВЛЕНИЯ АППАРАТАМИ ГТС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БИБЛИОТЕКИ БАЗОВЫХ МОДЕЛЕЙ УПРАВЛЕНИЯ АППАРАТАМИ </dc:title>
  <dc:creator>Admin</dc:creator>
  <cp:lastModifiedBy>Admin</cp:lastModifiedBy>
  <cp:revision>34</cp:revision>
  <dcterms:created xsi:type="dcterms:W3CDTF">2025-05-19T03:01:19Z</dcterms:created>
  <dcterms:modified xsi:type="dcterms:W3CDTF">2025-05-19T08:58:19Z</dcterms:modified>
</cp:coreProperties>
</file>